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9" r:id="rId12"/>
    <p:sldId id="270" r:id="rId13"/>
    <p:sldId id="271" r:id="rId14"/>
    <p:sldId id="27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9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43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05840"/>
            <a:ext cx="64008" cy="237744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1097280" y="914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Riesgo País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Ecuador mediante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Variables de Análisis de Sentimiento de Noticias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3108960"/>
            <a:ext cx="2743200" cy="18288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Pre-defensa de Tesis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— USFQ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País de Ecuador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EMBI (Emerging Markets Bond Index) mide el spread soberano de Ecuador sobre bonos del Tesoro de EE.UU., expresado en puntos básicos.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directamente: costo de financiamiento público, decisiones de inversión extranjera, planificación fiscal del gobierno.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Ecuador: economía dolarizada, petro-dependiente, con historial de default soberano (2008, bajo Rafael Correa).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estudio: noviembre 2013 — diciembre 2025 (3,047 días de trading).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3,047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 ×  </a:t>
            </a: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|  </a:t>
            </a:r>
            <a:r>
              <a:rPr lang="en-US" sz="1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 |  </a:t>
            </a:r>
            <a:r>
              <a:rPr lang="en-US" sz="1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variables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Investigación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5ECD7"/>
          </a:solidFill>
          <a:ln w="1905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13716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el Machine Learning superar a los modelos econométricos clásicos (ARIMA) en la predicción del EMBI Ecuador?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solidFill>
            <a:srgbClr val="F5ECD7"/>
          </a:solidFill>
          <a:ln w="1905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4864" cy="13716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análisis de sentimiento de noticias internacionales (NLP via GDELT v2) agrega valor predictivo incremental sobre las variables macroeconómicas tradicionales?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777240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Central Ecuador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EMBI, tasas de interés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 (complementario)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Desempleo, reservas internacionales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Mensual/Trim.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 (yfinance)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WTI, VIX, DXY, oro, treasuries, ETF EMB/HYG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GDELT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Tono, Goldstein, volumen, cobertura por 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por fecha → forward fill (datos mensuales a diarios) → filtro por calendario bursátil → </a:t>
            </a:r>
            <a:r>
              <a:rPr lang="en-US" sz="110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dataset_tesis_final.pkl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las 60 features seleccionadas: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3977640" cy="16459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7"/>
          <p:cNvSpPr/>
          <p:nvPr/>
        </p:nvSpPr>
        <p:spPr>
          <a:xfrm>
            <a:off x="4572000" y="39136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 (externo) (29)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4133088"/>
            <a:ext cx="2880360" cy="164592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4572000" y="4114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Macroeconómico (local) (21)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4334256"/>
            <a:ext cx="822960" cy="16459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1"/>
          <p:cNvSpPr/>
          <p:nvPr/>
        </p:nvSpPr>
        <p:spPr>
          <a:xfrm>
            <a:off x="4572000" y="43159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Autorregresivo (EMBI) (6)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535424"/>
            <a:ext cx="548640" cy="16459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3"/>
          <p:cNvSpPr/>
          <p:nvPr/>
        </p:nvSpPr>
        <p:spPr>
          <a:xfrm>
            <a:off x="4572000" y="45171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(GDELT) (4)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Metodológico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11480" cy="4114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" y="1188720"/>
            <a:ext cx="18288" cy="3931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1051560" y="77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0332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fuentes → 22 variables × 3,047 días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API yfinance, GDELT v2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581912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5720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" y="1993392"/>
            <a:ext cx="18288" cy="3931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105156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183794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(1, 7, 30 días) + Rolling means (7, 30 días)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variables → 132 features generados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86584"/>
            <a:ext cx="411480" cy="411480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457200" y="2386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" y="2798064"/>
            <a:ext cx="18288" cy="3931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1051560" y="2386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64261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+ Mutual Information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→ 60 features (ajustado solo en train)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411480" cy="41148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457200" y="31912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796" y="3602736"/>
            <a:ext cx="18288" cy="3931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1051560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Cronológico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44728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80% (2013-2022) / Val 10% (2022-2024) / Test 10% (2024-2025)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aleatorización — orden temporal estricto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95928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45720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+ Validación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251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10-fold + RandomizedSearchCV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data leakage en cada paso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Predicción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2697480" cy="33832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697480" cy="54864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Econométrico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clásico de series de tiempo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Auto-ARIMA (búsqueda p,d,q)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rolling, ventana 3 años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42316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107.48 pb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777240"/>
            <a:ext cx="2697480" cy="33832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3337560" y="777240"/>
            <a:ext cx="269748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347472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12344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15544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891 árboles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+ 10-fold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optimizados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3108960"/>
            <a:ext cx="2423160" cy="6400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3474720" y="31089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64.16 pb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892040" y="868680"/>
            <a:ext cx="1005840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4892040" y="8686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777240"/>
            <a:ext cx="2697480" cy="338328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6217920" y="777240"/>
            <a:ext cx="2697480" cy="5486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635508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12344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5544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búsqueda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p=0.0645 (no sig.)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635508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 por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parsimonia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Selección: test de Wilcoxon Signed-Rank sobre 10 folds — si no hay diferencia significativa, se elige el modelo más simple.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Central: RF Supera al ARIMA en 40.3%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474720" cy="164592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(Baseline)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107.48 pb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097280" y="1463040"/>
            <a:ext cx="2194560" cy="2743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49040" y="1600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−40.3%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4114800" cy="16459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5720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143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64.16 pb</a:t>
            </a:r>
            <a:endParaRPr lang="en-US" sz="4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743200"/>
          <a:ext cx="6400800" cy="137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(pb)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(pb)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ML explica el 95.5% de la variabilidad del EMBI ecuatoriano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Contribución por Categoría de Variable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20915" y="777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20915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135315" y="1188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Autorregresivo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5315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y rolling means del EMBI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20915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35315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5315" y="2121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Petróleo, dólar, VIX, treasuries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20915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35315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Macroeconómico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5315" y="2852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Desempleo, reservas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20915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35315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5315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cobertura mediática</a:t>
            </a:r>
            <a:endParaRPr lang="en-US" sz="9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0B92B257-AAB0-5346-F7FC-AB3E3E097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71795"/>
            <a:ext cx="6115988" cy="29714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de Ablación: Contribución del NLP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pic>
        <p:nvPicPr>
          <p:cNvPr id="6" name="Image 0" descr="C:\Users\danny\Maestría Ciencia de Datos USFQ\tesis-riesgo-pais-ecuador\notebooks\ablacion_rmse_comparac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85800"/>
            <a:ext cx="5669280" cy="397764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036080"/>
              </p:ext>
            </p:extLst>
          </p:nvPr>
        </p:nvGraphicFramePr>
        <p:xfrm>
          <a:off x="5943600" y="822960"/>
          <a:ext cx="2560320" cy="1417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Solo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AR + Macro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AR + NLP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0" y="2560320"/>
            <a:ext cx="2926080" cy="1097280"/>
          </a:xfrm>
          <a:prstGeom prst="rect">
            <a:avLst/>
          </a:prstGeom>
          <a:solidFill>
            <a:srgbClr val="F5ECD7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5"/>
          <p:cNvSpPr/>
          <p:nvPr/>
        </p:nvSpPr>
        <p:spPr>
          <a:xfrm>
            <a:off x="6035040" y="2606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</a:t>
            </a:r>
            <a:r>
              <a:rPr lang="en-US" sz="14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+1.14%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(A→C: 58.37 → 57.86 pb)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variables NLP = VOLUMEN de cobertura mediática, no sentimiento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 de Granger: ¿Anticipa el NLP al EMBI?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pic>
        <p:nvPicPr>
          <p:cNvPr id="6" name="Image 0" descr="C:\Users\danny\Maestría Ciencia de Datos USFQ\tesis-riesgo-pais-ecuador\notebooks\granger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85800"/>
            <a:ext cx="87782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840480"/>
            <a:ext cx="3840480" cy="73152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→ EMBI: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lags significativos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noticias NO anticipan el riesgo país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3840480"/>
            <a:ext cx="3840480" cy="731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7"/>
          <p:cNvSpPr/>
          <p:nvPr/>
        </p:nvSpPr>
        <p:spPr>
          <a:xfrm>
            <a:off x="4937760" y="3886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EMBI → NLP: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(lags 1-4) y Goldstein (lag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EMBI alto atrae cobertura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negative y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por Régimen: ¿Qué Explica el EMBI en Cada Período?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pic>
        <p:nvPicPr>
          <p:cNvPr id="6" name="Image 0" descr="C:\Users\danny\Maestría Ciencia de Datos USFQ\tesis-riesgo-pais-ecuador\notebooks\shap_regimenes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85800"/>
            <a:ext cx="877824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NLP: ¿Estructura No Lineal?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pic>
        <p:nvPicPr>
          <p:cNvPr id="6" name="Image 0" descr="C:\Users\danny\Maestría Ciencia de Datos USFQ\tesis-riesgo-pais-ecuador\notebooks\autoencoder_comparativa_rm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85800"/>
            <a:ext cx="50292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777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188720"/>
            <a:ext cx="347472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5486400" y="1207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(4 NLP rolling)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1207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64.16 pb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1737360"/>
            <a:ext cx="3474720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5486400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PCA-3 (lineal)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1755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66.46 pb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94960" y="2286000"/>
            <a:ext cx="3474720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Text 12"/>
          <p:cNvSpPr/>
          <p:nvPr/>
        </p:nvSpPr>
        <p:spPr>
          <a:xfrm>
            <a:off x="5486400" y="2304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Autoencoder-3 (no lineal)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66.49 pb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94960" y="3017520"/>
            <a:ext cx="3474720" cy="842304"/>
          </a:xfrm>
          <a:prstGeom prst="rect">
            <a:avLst/>
          </a:prstGeom>
          <a:solidFill>
            <a:srgbClr val="F5ECD7"/>
          </a:solidFill>
          <a:ln w="12700">
            <a:solidFill>
              <a:srgbClr val="C89B3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5"/>
          <p:cNvSpPr/>
          <p:nvPr/>
        </p:nvSpPr>
        <p:spPr>
          <a:xfrm>
            <a:off x="5486400" y="3063240"/>
            <a:ext cx="3291840" cy="7821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≈ Autoencoder (Δ = 0.03 pb)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Estructura NLP es lineal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 — USFQ — Maestría en Ciencia de Datos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54864" cy="8686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40080" y="850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supera a ARIMA en 40.3%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(RMSE=64.16 pb) mejora significativamente sobre ARIMA (107.48 pb). El modelo explica 95.5% de la variabilidad del EMBI.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54864" cy="86868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aporta señal real pero modesta (~4.5%)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de cobertura mediática internacional mejora la predicción. Opera por acumulación temporal (30 días), no por sentimiento.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" cy="8686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país cambia de régimen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en 2020 y 2022. Variables dominantes: commodities → desempleo → política monetaria de la Fed.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F7F8FA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54864" cy="8686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640080" y="3730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NLP es lineal y contemporánea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= PCA (0.03 pb). Granger: 0 lags significativos. Noticias y EMBI reaccionan al mismo evento.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1280160"/>
            <a:ext cx="64008" cy="219456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2834640" y="1188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834640" y="2743200"/>
            <a:ext cx="2286000" cy="18288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283464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Plaza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Ciencia de Datos — USFQ — 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1053</Words>
  <Application>Microsoft Office PowerPoint</Application>
  <PresentationFormat>Presentación en pantalla (16:9)</PresentationFormat>
  <Paragraphs>207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del Riesgo País de Ecuador mediante Machine Learning</dc:title>
  <dc:subject>PptxGenJS Presentation</dc:subject>
  <dc:creator>Danny Plaza</dc:creator>
  <cp:lastModifiedBy>Danny Sebastián Plaza Sánchez</cp:lastModifiedBy>
  <cp:revision>2</cp:revision>
  <dcterms:created xsi:type="dcterms:W3CDTF">2026-05-16T13:36:03Z</dcterms:created>
  <dcterms:modified xsi:type="dcterms:W3CDTF">2026-05-17T18:55:02Z</dcterms:modified>
</cp:coreProperties>
</file>